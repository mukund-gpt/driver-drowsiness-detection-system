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DM Sans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FA2540-3889-4E18-82D8-8C72B30EC5FF}">
  <a:tblStyle styleId="{94FA2540-3889-4E18-82D8-8C72B30EC5F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DMSans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SpaceGrotesk-regular.fntdata"/><Relationship Id="rId25" Type="http://schemas.openxmlformats.org/officeDocument/2006/relationships/font" Target="fonts/JetBrainsMono-boldItalic.fntdata"/><Relationship Id="rId27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DMSans-bold.fntdata"/><Relationship Id="rId18" Type="http://schemas.openxmlformats.org/officeDocument/2006/relationships/font" Target="fonts/DM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12e8c6e79eb3c19d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12e8c6e79eb3c19d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12e8c6e79eb3c19d_3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h12e8c6e79eb3c19d_3_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12e8c6e79eb3c19d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h12e8c6e79eb3c19d_3_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12e8c6e79eb3c19d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h12e8c6e79eb3c19d_3_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12e8c6e79eb3c19d_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h12e8c6e79eb3c19d_3_1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12e8c6e79eb3c19d_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12e8c6e79eb3c19d_3_1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12e8c6e79eb3c19d_3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12e8c6e79eb3c19d_3_1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12e8c6e79eb3c19d_3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h12e8c6e79eb3c19d_3_1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12e8c6e79eb3c19d_3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h12e8c6e79eb3c19d_3_2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12e8c6e79eb3c19d_3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h12e8c6e79eb3c19d_3_2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514350" y="3521869"/>
            <a:ext cx="51435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514350" y="421481"/>
            <a:ext cx="6191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50" u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MOTILAL NEHRU NATIONAL INSTITUTE OF TECHNOLOGY ALLAHABAD</a:t>
            </a:r>
            <a:endParaRPr b="0" i="0" sz="850" u="none" strike="noStrike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328500" y="1083175"/>
            <a:ext cx="86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Driver Drowsiness Monitoring System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514350" y="2115681"/>
            <a:ext cx="56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Real-time detection of sleepy driving with automated emergency photo alerts using OpenCV and MediaPipe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514350" y="3733800"/>
            <a:ext cx="65724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strike="noStrike">
                <a:solidFill>
                  <a:srgbClr val="F59E0B"/>
                </a:solidFill>
                <a:latin typeface="DM Sans"/>
                <a:ea typeface="DM Sans"/>
                <a:cs typeface="DM Sans"/>
                <a:sym typeface="DM Sans"/>
              </a:rPr>
              <a:t>Submitted By — Team 10</a:t>
            </a:r>
            <a:endParaRPr b="1" i="0" sz="1100" u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GB" sz="950" u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Mukund Bihari Gupta (20233191)        </a:t>
            </a:r>
            <a:endParaRPr b="0" i="0" sz="950" u="none" strike="noStrike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GB" sz="950" u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Sachin Patel (20233237)</a:t>
            </a:r>
            <a:endParaRPr b="1" i="0" sz="1100" u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GB" sz="950" u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Sahil Singh (20233240)    </a:t>
            </a:r>
            <a:endParaRPr sz="95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Sahil Raja (20233555)</a:t>
            </a:r>
            <a:endParaRPr b="0" i="0" sz="1100" u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/>
          <p:nvPr/>
        </p:nvSpPr>
        <p:spPr>
          <a:xfrm>
            <a:off x="457200" y="2125265"/>
            <a:ext cx="2609813" cy="1564481"/>
          </a:xfrm>
          <a:prstGeom prst="roundRect">
            <a:avLst>
              <a:gd fmla="val 54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3267038" y="2125265"/>
            <a:ext cx="2609813" cy="1564481"/>
          </a:xfrm>
          <a:prstGeom prst="roundRect">
            <a:avLst>
              <a:gd fmla="val 54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6076875" y="2125265"/>
            <a:ext cx="2609813" cy="1564481"/>
          </a:xfrm>
          <a:prstGeom prst="roundRect">
            <a:avLst>
              <a:gd fmla="val 54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2382440"/>
            <a:ext cx="32146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7063" y="2382440"/>
            <a:ext cx="32146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6900" y="2382440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 txBox="1"/>
          <p:nvPr/>
        </p:nvSpPr>
        <p:spPr>
          <a:xfrm>
            <a:off x="457200" y="342900"/>
            <a:ext cx="86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MOTIVATION</a:t>
            </a:r>
            <a:endParaRPr sz="1100"/>
          </a:p>
        </p:txBody>
      </p:sp>
      <p:sp>
        <p:nvSpPr>
          <p:cNvPr id="145" name="Google Shape;145;p26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This Project?</a:t>
            </a:r>
            <a:endParaRPr sz="1100"/>
          </a:p>
        </p:txBody>
      </p:sp>
      <p:sp>
        <p:nvSpPr>
          <p:cNvPr id="146" name="Google Shape;146;p26"/>
          <p:cNvSpPr txBox="1"/>
          <p:nvPr/>
        </p:nvSpPr>
        <p:spPr>
          <a:xfrm>
            <a:off x="657225" y="2782490"/>
            <a:ext cx="290031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Seconds Matter</a:t>
            </a:r>
            <a:endParaRPr sz="1100"/>
          </a:p>
        </p:txBody>
      </p:sp>
      <p:sp>
        <p:nvSpPr>
          <p:cNvPr id="147" name="Google Shape;147;p26"/>
          <p:cNvSpPr txBox="1"/>
          <p:nvPr/>
        </p:nvSpPr>
        <p:spPr>
          <a:xfrm>
            <a:off x="657225" y="3089672"/>
            <a:ext cx="228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Brief dozing pushes vehicles off-lane instantly.</a:t>
            </a:r>
            <a:endParaRPr sz="1100"/>
          </a:p>
        </p:txBody>
      </p:sp>
      <p:sp>
        <p:nvSpPr>
          <p:cNvPr id="148" name="Google Shape;148;p26"/>
          <p:cNvSpPr txBox="1"/>
          <p:nvPr/>
        </p:nvSpPr>
        <p:spPr>
          <a:xfrm>
            <a:off x="3467063" y="2782490"/>
            <a:ext cx="290031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Silent Fatigue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3467063" y="3089672"/>
            <a:ext cx="228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Gradual sleepiness goes unnoticed by drivers.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6276900" y="2782490"/>
            <a:ext cx="286709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Zero Wearables</a:t>
            </a:r>
            <a:endParaRPr sz="1100"/>
          </a:p>
        </p:txBody>
      </p:sp>
      <p:sp>
        <p:nvSpPr>
          <p:cNvPr id="151" name="Google Shape;151;p26"/>
          <p:cNvSpPr txBox="1"/>
          <p:nvPr/>
        </p:nvSpPr>
        <p:spPr>
          <a:xfrm>
            <a:off x="6276900" y="3089672"/>
            <a:ext cx="228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Standard webcam tracks eyes without body sensors.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/>
        </p:nvSpPr>
        <p:spPr>
          <a:xfrm>
            <a:off x="457200" y="342900"/>
            <a:ext cx="86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CORE GOALS</a:t>
            </a:r>
            <a:endParaRPr sz="1100"/>
          </a:p>
        </p:txBody>
      </p:sp>
      <p:sp>
        <p:nvSpPr>
          <p:cNvPr id="157" name="Google Shape;157;p27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Objectives</a:t>
            </a:r>
            <a:endParaRPr sz="1100"/>
          </a:p>
        </p:txBody>
      </p:sp>
      <p:sp>
        <p:nvSpPr>
          <p:cNvPr id="158" name="Google Shape;158;p27"/>
          <p:cNvSpPr txBox="1"/>
          <p:nvPr/>
        </p:nvSpPr>
        <p:spPr>
          <a:xfrm>
            <a:off x="457200" y="2107406"/>
            <a:ext cx="40147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01 Eye Closure Detection:</a:t>
            </a:r>
            <a:r>
              <a:rPr b="0" i="0" lang="en-GB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Trigger alarm after 5 seconds shut.</a:t>
            </a:r>
            <a:endParaRPr sz="1100"/>
          </a:p>
        </p:txBody>
      </p:sp>
      <p:sp>
        <p:nvSpPr>
          <p:cNvPr id="159" name="Google Shape;159;p27"/>
          <p:cNvSpPr txBox="1"/>
          <p:nvPr/>
        </p:nvSpPr>
        <p:spPr>
          <a:xfrm>
            <a:off x="457200" y="2707481"/>
            <a:ext cx="40147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02 Yawn Recognition:</a:t>
            </a:r>
            <a:r>
              <a:rPr b="0" i="0" lang="en-GB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Flag wide mouth openings lasting 1.5 seconds.</a:t>
            </a:r>
            <a:endParaRPr sz="1100"/>
          </a:p>
        </p:txBody>
      </p:sp>
      <p:sp>
        <p:nvSpPr>
          <p:cNvPr id="160" name="Google Shape;160;p27"/>
          <p:cNvSpPr txBox="1"/>
          <p:nvPr/>
        </p:nvSpPr>
        <p:spPr>
          <a:xfrm>
            <a:off x="457200" y="3307556"/>
            <a:ext cx="40147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03 Continuous Audio Alert:</a:t>
            </a:r>
            <a:r>
              <a:rPr b="0" i="0" lang="en-GB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Loop loud alarm until driver responds.</a:t>
            </a:r>
            <a:endParaRPr sz="1100"/>
          </a:p>
        </p:txBody>
      </p:sp>
      <p:sp>
        <p:nvSpPr>
          <p:cNvPr id="161" name="Google Shape;161;p27"/>
          <p:cNvSpPr txBox="1"/>
          <p:nvPr/>
        </p:nvSpPr>
        <p:spPr>
          <a:xfrm>
            <a:off x="4743450" y="2407444"/>
            <a:ext cx="40147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04 Emergency Photo Email:</a:t>
            </a:r>
            <a:r>
              <a:rPr b="0" i="0" lang="en-GB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Send live driver snapshot via Gmail.</a:t>
            </a:r>
            <a:endParaRPr sz="1100"/>
          </a:p>
        </p:txBody>
      </p:sp>
      <p:sp>
        <p:nvSpPr>
          <p:cNvPr id="162" name="Google Shape;162;p27"/>
          <p:cNvSpPr txBox="1"/>
          <p:nvPr/>
        </p:nvSpPr>
        <p:spPr>
          <a:xfrm>
            <a:off x="4743450" y="3007519"/>
            <a:ext cx="40147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05 Gesture Dismissal &amp; Log:</a:t>
            </a:r>
            <a:r>
              <a:rPr b="0" i="0" lang="en-GB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Stop alarm via thumbs-up; save CSV.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468165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6300" y="2468165"/>
            <a:ext cx="292894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3089672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3089672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/>
        </p:nvSpPr>
        <p:spPr>
          <a:xfrm>
            <a:off x="457200" y="342900"/>
            <a:ext cx="86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 STACK</a:t>
            </a:r>
            <a:endParaRPr sz="1100"/>
          </a:p>
        </p:txBody>
      </p:sp>
      <p:sp>
        <p:nvSpPr>
          <p:cNvPr id="172" name="Google Shape;172;p28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 &amp; Libraries Used</a:t>
            </a:r>
            <a:endParaRPr sz="1100"/>
          </a:p>
        </p:txBody>
      </p:sp>
      <p:sp>
        <p:nvSpPr>
          <p:cNvPr id="173" name="Google Shape;173;p28"/>
          <p:cNvSpPr txBox="1"/>
          <p:nvPr/>
        </p:nvSpPr>
        <p:spPr>
          <a:xfrm>
            <a:off x="814388" y="2400300"/>
            <a:ext cx="3806726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 &amp; Threading</a:t>
            </a:r>
            <a:endParaRPr sz="1100"/>
          </a:p>
        </p:txBody>
      </p:sp>
      <p:sp>
        <p:nvSpPr>
          <p:cNvPr id="174" name="Google Shape;174;p28"/>
          <p:cNvSpPr txBox="1"/>
          <p:nvPr/>
        </p:nvSpPr>
        <p:spPr>
          <a:xfrm>
            <a:off x="814388" y="2621756"/>
            <a:ext cx="362545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Core logic with non-blocking background emails.</a:t>
            </a:r>
            <a:endParaRPr sz="1100"/>
          </a:p>
        </p:txBody>
      </p:sp>
      <p:sp>
        <p:nvSpPr>
          <p:cNvPr id="175" name="Google Shape;175;p28"/>
          <p:cNvSpPr txBox="1"/>
          <p:nvPr/>
        </p:nvSpPr>
        <p:spPr>
          <a:xfrm>
            <a:off x="5107781" y="2400300"/>
            <a:ext cx="3422302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OpenCV &amp; NumPy</a:t>
            </a:r>
            <a:endParaRPr sz="1100"/>
          </a:p>
        </p:txBody>
      </p:sp>
      <p:sp>
        <p:nvSpPr>
          <p:cNvPr id="176" name="Google Shape;176;p28"/>
          <p:cNvSpPr txBox="1"/>
          <p:nvPr/>
        </p:nvSpPr>
        <p:spPr>
          <a:xfrm>
            <a:off x="5107781" y="2621756"/>
            <a:ext cx="3259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Webcam capture, ratio math, 3D head pose.</a:t>
            </a:r>
            <a:endParaRPr sz="1100"/>
          </a:p>
        </p:txBody>
      </p:sp>
      <p:sp>
        <p:nvSpPr>
          <p:cNvPr id="177" name="Google Shape;177;p28"/>
          <p:cNvSpPr txBox="1"/>
          <p:nvPr/>
        </p:nvSpPr>
        <p:spPr>
          <a:xfrm>
            <a:off x="842963" y="3021806"/>
            <a:ext cx="3328541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MediaPipe AI</a:t>
            </a:r>
            <a:endParaRPr sz="1100"/>
          </a:p>
        </p:txBody>
      </p:sp>
      <p:sp>
        <p:nvSpPr>
          <p:cNvPr id="178" name="Google Shape;178;p28"/>
          <p:cNvSpPr txBox="1"/>
          <p:nvPr/>
        </p:nvSpPr>
        <p:spPr>
          <a:xfrm>
            <a:off x="842963" y="3243263"/>
            <a:ext cx="31700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468-point face mesh and 2-hand tracking.</a:t>
            </a:r>
            <a:endParaRPr sz="1100"/>
          </a:p>
        </p:txBody>
      </p:sp>
      <p:sp>
        <p:nvSpPr>
          <p:cNvPr id="179" name="Google Shape;179;p28"/>
          <p:cNvSpPr txBox="1"/>
          <p:nvPr/>
        </p:nvSpPr>
        <p:spPr>
          <a:xfrm>
            <a:off x="5072063" y="3021806"/>
            <a:ext cx="3066008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Pygame, SMTP &amp; CSV</a:t>
            </a:r>
            <a:endParaRPr sz="1100"/>
          </a:p>
        </p:txBody>
      </p:sp>
      <p:sp>
        <p:nvSpPr>
          <p:cNvPr id="180" name="Google Shape;180;p28"/>
          <p:cNvSpPr txBox="1"/>
          <p:nvPr/>
        </p:nvSpPr>
        <p:spPr>
          <a:xfrm>
            <a:off x="5072063" y="3243263"/>
            <a:ext cx="29200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MP3 alarm, Gmail SSL alerts, event logs.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8825" y="2607469"/>
            <a:ext cx="92869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3319" y="2607469"/>
            <a:ext cx="92869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813" y="2607469"/>
            <a:ext cx="92869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306" y="2607469"/>
            <a:ext cx="92869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988" y="22288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7481" y="22288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1975" y="21431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6469" y="22288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0963" y="22288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4431" y="2350294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3419" y="2264569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75772" y="2350294"/>
            <a:ext cx="121444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33122" y="2350294"/>
            <a:ext cx="135731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9"/>
          <p:cNvSpPr txBox="1"/>
          <p:nvPr/>
        </p:nvSpPr>
        <p:spPr>
          <a:xfrm>
            <a:off x="457200" y="342900"/>
            <a:ext cx="86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ARCHITECTURE</a:t>
            </a:r>
            <a:endParaRPr sz="1100"/>
          </a:p>
        </p:txBody>
      </p:sp>
      <p:sp>
        <p:nvSpPr>
          <p:cNvPr id="199" name="Google Shape;199;p29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the System Works</a:t>
            </a:r>
            <a:endParaRPr sz="1100"/>
          </a:p>
        </p:txBody>
      </p:sp>
      <p:sp>
        <p:nvSpPr>
          <p:cNvPr id="200" name="Google Shape;200;p29"/>
          <p:cNvSpPr txBox="1"/>
          <p:nvPr/>
        </p:nvSpPr>
        <p:spPr>
          <a:xfrm>
            <a:off x="286643" y="2728913"/>
            <a:ext cx="1912739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Webcam</a:t>
            </a:r>
            <a:endParaRPr sz="1100"/>
          </a:p>
        </p:txBody>
      </p:sp>
      <p:sp>
        <p:nvSpPr>
          <p:cNvPr id="201" name="Google Shape;201;p29"/>
          <p:cNvSpPr txBox="1"/>
          <p:nvPr/>
        </p:nvSpPr>
        <p:spPr>
          <a:xfrm>
            <a:off x="332184" y="2957513"/>
            <a:ext cx="1821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Read mirrored frame</a:t>
            </a:r>
            <a:endParaRPr sz="1100"/>
          </a:p>
        </p:txBody>
      </p:sp>
      <p:sp>
        <p:nvSpPr>
          <p:cNvPr id="202" name="Google Shape;202;p29"/>
          <p:cNvSpPr txBox="1"/>
          <p:nvPr/>
        </p:nvSpPr>
        <p:spPr>
          <a:xfrm>
            <a:off x="1951136" y="2728913"/>
            <a:ext cx="191273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MediaPipe</a:t>
            </a:r>
            <a:endParaRPr sz="1100"/>
          </a:p>
        </p:txBody>
      </p:sp>
      <p:sp>
        <p:nvSpPr>
          <p:cNvPr id="203" name="Google Shape;203;p29"/>
          <p:cNvSpPr txBox="1"/>
          <p:nvPr/>
        </p:nvSpPr>
        <p:spPr>
          <a:xfrm>
            <a:off x="1996678" y="2957513"/>
            <a:ext cx="1821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Map face &amp; hand dots</a:t>
            </a:r>
            <a:endParaRPr sz="1100"/>
          </a:p>
        </p:txBody>
      </p:sp>
      <p:sp>
        <p:nvSpPr>
          <p:cNvPr id="204" name="Google Shape;204;p29"/>
          <p:cNvSpPr txBox="1"/>
          <p:nvPr/>
        </p:nvSpPr>
        <p:spPr>
          <a:xfrm>
            <a:off x="3615630" y="2643188"/>
            <a:ext cx="191273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Measure</a:t>
            </a:r>
            <a:endParaRPr sz="1100"/>
          </a:p>
        </p:txBody>
      </p:sp>
      <p:sp>
        <p:nvSpPr>
          <p:cNvPr id="205" name="Google Shape;205;p29"/>
          <p:cNvSpPr txBox="1"/>
          <p:nvPr/>
        </p:nvSpPr>
        <p:spPr>
          <a:xfrm>
            <a:off x="3661172" y="2871788"/>
            <a:ext cx="1821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Compute EAR, MAR, Pose</a:t>
            </a:r>
            <a:endParaRPr sz="1100"/>
          </a:p>
        </p:txBody>
      </p:sp>
      <p:sp>
        <p:nvSpPr>
          <p:cNvPr id="206" name="Google Shape;206;p29"/>
          <p:cNvSpPr txBox="1"/>
          <p:nvPr/>
        </p:nvSpPr>
        <p:spPr>
          <a:xfrm>
            <a:off x="5280124" y="2728913"/>
            <a:ext cx="1912739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Timers</a:t>
            </a:r>
            <a:endParaRPr sz="1100"/>
          </a:p>
        </p:txBody>
      </p:sp>
      <p:sp>
        <p:nvSpPr>
          <p:cNvPr id="207" name="Google Shape;207;p29"/>
          <p:cNvSpPr txBox="1"/>
          <p:nvPr/>
        </p:nvSpPr>
        <p:spPr>
          <a:xfrm>
            <a:off x="5325665" y="2957513"/>
            <a:ext cx="1821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Check duration limits</a:t>
            </a:r>
            <a:endParaRPr sz="1100"/>
          </a:p>
        </p:txBody>
      </p:sp>
      <p:sp>
        <p:nvSpPr>
          <p:cNvPr id="208" name="Google Shape;208;p29"/>
          <p:cNvSpPr txBox="1"/>
          <p:nvPr/>
        </p:nvSpPr>
        <p:spPr>
          <a:xfrm>
            <a:off x="6944617" y="2728913"/>
            <a:ext cx="191273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5. Action</a:t>
            </a:r>
            <a:endParaRPr sz="1100"/>
          </a:p>
        </p:txBody>
      </p:sp>
      <p:sp>
        <p:nvSpPr>
          <p:cNvPr id="209" name="Google Shape;209;p29"/>
          <p:cNvSpPr txBox="1"/>
          <p:nvPr/>
        </p:nvSpPr>
        <p:spPr>
          <a:xfrm>
            <a:off x="6990159" y="2957513"/>
            <a:ext cx="1821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Alarm, Email &amp; CSV log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28813"/>
            <a:ext cx="3943350" cy="1957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450" y="2056730"/>
            <a:ext cx="3943350" cy="579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4900" y="2235435"/>
            <a:ext cx="1653220" cy="22971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/>
        </p:nvSpPr>
        <p:spPr>
          <a:xfrm>
            <a:off x="457200" y="342900"/>
            <a:ext cx="86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 01</a:t>
            </a:r>
            <a:endParaRPr sz="1100"/>
          </a:p>
        </p:txBody>
      </p:sp>
      <p:sp>
        <p:nvSpPr>
          <p:cNvPr id="218" name="Google Shape;218;p30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Eye Closure Detection (EAR)</a:t>
            </a:r>
            <a:endParaRPr sz="1100"/>
          </a:p>
        </p:txBody>
      </p:sp>
      <p:sp>
        <p:nvSpPr>
          <p:cNvPr id="219" name="Google Shape;219;p30"/>
          <p:cNvSpPr txBox="1"/>
          <p:nvPr/>
        </p:nvSpPr>
        <p:spPr>
          <a:xfrm>
            <a:off x="4743450" y="2808052"/>
            <a:ext cx="4400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Closing eyelids shrinks vertical height and drops average EAR.</a:t>
            </a:r>
            <a:endParaRPr sz="1100"/>
          </a:p>
        </p:txBody>
      </p:sp>
      <p:sp>
        <p:nvSpPr>
          <p:cNvPr id="220" name="Google Shape;220;p30"/>
          <p:cNvSpPr txBox="1"/>
          <p:nvPr/>
        </p:nvSpPr>
        <p:spPr>
          <a:xfrm>
            <a:off x="4743450" y="3150952"/>
            <a:ext cx="1050131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700" u="none" cap="none" strike="noStrik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rPr>
              <a:t>0.23</a:t>
            </a:r>
            <a:endParaRPr sz="1100"/>
          </a:p>
        </p:txBody>
      </p:sp>
      <p:sp>
        <p:nvSpPr>
          <p:cNvPr id="221" name="Google Shape;221;p30"/>
          <p:cNvSpPr txBox="1"/>
          <p:nvPr/>
        </p:nvSpPr>
        <p:spPr>
          <a:xfrm>
            <a:off x="4743450" y="3586721"/>
            <a:ext cx="10501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EAR threshold</a:t>
            </a:r>
            <a:endParaRPr sz="1100"/>
          </a:p>
        </p:txBody>
      </p:sp>
      <p:sp>
        <p:nvSpPr>
          <p:cNvPr id="222" name="Google Shape;222;p30"/>
          <p:cNvSpPr txBox="1"/>
          <p:nvPr/>
        </p:nvSpPr>
        <p:spPr>
          <a:xfrm>
            <a:off x="5807869" y="3150952"/>
            <a:ext cx="1518046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70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5.0 sec</a:t>
            </a:r>
            <a:endParaRPr sz="1100"/>
          </a:p>
        </p:txBody>
      </p:sp>
      <p:sp>
        <p:nvSpPr>
          <p:cNvPr id="223" name="Google Shape;223;p30"/>
          <p:cNvSpPr txBox="1"/>
          <p:nvPr/>
        </p:nvSpPr>
        <p:spPr>
          <a:xfrm>
            <a:off x="5807869" y="3586721"/>
            <a:ext cx="15180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Closed before alarm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/>
          <p:nvPr/>
        </p:nvSpPr>
        <p:spPr>
          <a:xfrm>
            <a:off x="4564856" y="1764506"/>
            <a:ext cx="14288" cy="228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457200" y="342900"/>
            <a:ext cx="868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METRICS 02</a:t>
            </a:r>
            <a:endParaRPr sz="1100"/>
          </a:p>
        </p:txBody>
      </p:sp>
      <p:sp>
        <p:nvSpPr>
          <p:cNvPr id="230" name="Google Shape;230;p31"/>
          <p:cNvSpPr txBox="1"/>
          <p:nvPr/>
        </p:nvSpPr>
        <p:spPr>
          <a:xfrm>
            <a:off x="457200" y="514350"/>
            <a:ext cx="868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Yawning </a:t>
            </a:r>
            <a:r>
              <a:rPr b="1" lang="en-GB" sz="20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Detection</a:t>
            </a:r>
            <a:endParaRPr sz="1100"/>
          </a:p>
        </p:txBody>
      </p:sp>
      <p:sp>
        <p:nvSpPr>
          <p:cNvPr id="231" name="Google Shape;231;p31"/>
          <p:cNvSpPr txBox="1"/>
          <p:nvPr/>
        </p:nvSpPr>
        <p:spPr>
          <a:xfrm>
            <a:off x="457200" y="2185988"/>
            <a:ext cx="4941242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rPr>
              <a:t>Yawn Detection (MAR)</a:t>
            </a:r>
            <a:endParaRPr sz="1100"/>
          </a:p>
        </p:txBody>
      </p:sp>
      <p:sp>
        <p:nvSpPr>
          <p:cNvPr id="232" name="Google Shape;232;p31"/>
          <p:cNvSpPr txBox="1"/>
          <p:nvPr/>
        </p:nvSpPr>
        <p:spPr>
          <a:xfrm>
            <a:off x="457200" y="2571750"/>
            <a:ext cx="470594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Formula:</a:t>
            </a:r>
            <a:r>
              <a:rPr b="0" i="0" lang="en-GB" sz="11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Vertical lip gap divided by mouth width.</a:t>
            </a:r>
            <a:endParaRPr sz="1100"/>
          </a:p>
        </p:txBody>
      </p:sp>
      <p:sp>
        <p:nvSpPr>
          <p:cNvPr id="233" name="Google Shape;233;p31"/>
          <p:cNvSpPr txBox="1"/>
          <p:nvPr/>
        </p:nvSpPr>
        <p:spPr>
          <a:xfrm>
            <a:off x="457200" y="2864644"/>
            <a:ext cx="470594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Landmarks:</a:t>
            </a:r>
            <a:r>
              <a:rPr b="0" i="0" lang="en-GB" sz="11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Inner lips (13, 14) and corners (78, 308).</a:t>
            </a:r>
            <a:endParaRPr sz="1100"/>
          </a:p>
        </p:txBody>
      </p:sp>
      <p:sp>
        <p:nvSpPr>
          <p:cNvPr id="234" name="Google Shape;234;p31"/>
          <p:cNvSpPr txBox="1"/>
          <p:nvPr/>
        </p:nvSpPr>
        <p:spPr>
          <a:xfrm>
            <a:off x="457200" y="3157538"/>
            <a:ext cx="470594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Trigger:</a:t>
            </a:r>
            <a:r>
              <a:rPr b="0" i="0" lang="en-GB" sz="11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MAR above 0.60 for 1.5 seconds.</a:t>
            </a:r>
            <a:endParaRPr sz="1100"/>
          </a:p>
        </p:txBody>
      </p:sp>
      <p:sp>
        <p:nvSpPr>
          <p:cNvPr id="235" name="Google Shape;235;p31"/>
          <p:cNvSpPr txBox="1"/>
          <p:nvPr/>
        </p:nvSpPr>
        <p:spPr>
          <a:xfrm>
            <a:off x="457200" y="3450431"/>
            <a:ext cx="470594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Cooldown:</a:t>
            </a:r>
            <a:r>
              <a:rPr b="0" i="0" lang="en-GB" sz="11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5-second pause prevents duplicate logging.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/>
          <p:nvPr/>
        </p:nvSpPr>
        <p:spPr>
          <a:xfrm>
            <a:off x="457200" y="2239565"/>
            <a:ext cx="1928813" cy="1335881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2557463" y="2239565"/>
            <a:ext cx="1928813" cy="1335881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4657725" y="2239565"/>
            <a:ext cx="1928813" cy="1335881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6757988" y="2239565"/>
            <a:ext cx="1928813" cy="1335881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43959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8913" y="243959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9175" y="243959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29438" y="243959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457200" y="342900"/>
            <a:ext cx="86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ALERT &amp; EMERGENCY RESPONSE</a:t>
            </a:r>
            <a:endParaRPr sz="1100"/>
          </a:p>
        </p:txBody>
      </p:sp>
      <p:sp>
        <p:nvSpPr>
          <p:cNvPr id="249" name="Google Shape;249;p32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Alarm, Photo Email &amp; Gesture Reset</a:t>
            </a:r>
            <a:endParaRPr sz="1100"/>
          </a:p>
        </p:txBody>
      </p:sp>
      <p:sp>
        <p:nvSpPr>
          <p:cNvPr id="250" name="Google Shape;250;p32"/>
          <p:cNvSpPr txBox="1"/>
          <p:nvPr/>
        </p:nvSpPr>
        <p:spPr>
          <a:xfrm>
            <a:off x="628650" y="2782490"/>
            <a:ext cx="2081509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Audio Alarm</a:t>
            </a:r>
            <a:endParaRPr sz="1100"/>
          </a:p>
        </p:txBody>
      </p:sp>
      <p:sp>
        <p:nvSpPr>
          <p:cNvPr id="251" name="Google Shape;251;p32"/>
          <p:cNvSpPr txBox="1"/>
          <p:nvPr/>
        </p:nvSpPr>
        <p:spPr>
          <a:xfrm>
            <a:off x="628650" y="3032522"/>
            <a:ext cx="1657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Loops beep.mp3 at 70% volume.</a:t>
            </a:r>
            <a:endParaRPr sz="1100"/>
          </a:p>
        </p:txBody>
      </p:sp>
      <p:sp>
        <p:nvSpPr>
          <p:cNvPr id="252" name="Google Shape;252;p32"/>
          <p:cNvSpPr txBox="1"/>
          <p:nvPr/>
        </p:nvSpPr>
        <p:spPr>
          <a:xfrm>
            <a:off x="2728913" y="2782490"/>
            <a:ext cx="208151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Photo Snapshot</a:t>
            </a:r>
            <a:endParaRPr sz="1100"/>
          </a:p>
        </p:txBody>
      </p:sp>
      <p:sp>
        <p:nvSpPr>
          <p:cNvPr id="253" name="Google Shape;253;p32"/>
          <p:cNvSpPr txBox="1"/>
          <p:nvPr/>
        </p:nvSpPr>
        <p:spPr>
          <a:xfrm>
            <a:off x="2728913" y="3032522"/>
            <a:ext cx="1657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Captures live JPG frame immediately.</a:t>
            </a:r>
            <a:endParaRPr sz="1100"/>
          </a:p>
        </p:txBody>
      </p:sp>
      <p:sp>
        <p:nvSpPr>
          <p:cNvPr id="254" name="Google Shape;254;p32"/>
          <p:cNvSpPr txBox="1"/>
          <p:nvPr/>
        </p:nvSpPr>
        <p:spPr>
          <a:xfrm>
            <a:off x="4829175" y="2782490"/>
            <a:ext cx="208151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Threaded Email</a:t>
            </a:r>
            <a:endParaRPr sz="1100"/>
          </a:p>
        </p:txBody>
      </p:sp>
      <p:sp>
        <p:nvSpPr>
          <p:cNvPr id="255" name="Google Shape;255;p32"/>
          <p:cNvSpPr txBox="1"/>
          <p:nvPr/>
        </p:nvSpPr>
        <p:spPr>
          <a:xfrm>
            <a:off x="4829175" y="3032522"/>
            <a:ext cx="1657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Sends Gmail alert then deletes photo.</a:t>
            </a:r>
            <a:endParaRPr sz="1100"/>
          </a:p>
        </p:txBody>
      </p:sp>
      <p:sp>
        <p:nvSpPr>
          <p:cNvPr id="256" name="Google Shape;256;p32"/>
          <p:cNvSpPr txBox="1"/>
          <p:nvPr/>
        </p:nvSpPr>
        <p:spPr>
          <a:xfrm>
            <a:off x="6929438" y="2782490"/>
            <a:ext cx="208151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Thumbs-Up Reset</a:t>
            </a:r>
            <a:endParaRPr sz="1100"/>
          </a:p>
        </p:txBody>
      </p:sp>
      <p:sp>
        <p:nvSpPr>
          <p:cNvPr id="257" name="Google Shape;257;p32"/>
          <p:cNvSpPr txBox="1"/>
          <p:nvPr/>
        </p:nvSpPr>
        <p:spPr>
          <a:xfrm>
            <a:off x="6929438" y="3032522"/>
            <a:ext cx="1657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5 consecutive frames stops alarm.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/>
          <p:nvPr/>
        </p:nvSpPr>
        <p:spPr>
          <a:xfrm>
            <a:off x="457200" y="1075134"/>
            <a:ext cx="8229600" cy="3350419"/>
          </a:xfrm>
          <a:prstGeom prst="roundRect">
            <a:avLst>
              <a:gd fmla="val 0" name="adj"/>
            </a:avLst>
          </a:prstGeom>
          <a:solidFill>
            <a:srgbClr val="F8FAFC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" name="Google Shape;263;p33"/>
          <p:cNvGraphicFramePr/>
          <p:nvPr/>
        </p:nvGraphicFramePr>
        <p:xfrm>
          <a:off x="457200" y="10751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{94FA2540-3889-4E18-82D8-8C72B30EC5FF}</a:tableStyleId>
              </a:tblPr>
              <a:tblGrid>
                <a:gridCol w="1766275"/>
                <a:gridCol w="1889400"/>
                <a:gridCol w="2230275"/>
                <a:gridCol w="2343600"/>
              </a:tblGrid>
              <a:tr h="47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Driver Situation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Dashboard Status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Automated System Action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CSV Event Logged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7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Normal attentive driving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16A34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MONITORING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Track eye polylines &amp; ratios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SESSION_START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Eyes shut ≥ 5.0 sec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DC262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PROLONGED EYE CLOSURE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Play alarm + send photo email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ALERT_TRIGGERED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Mouth open ≥ 1.5 sec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DC262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PROLONGED YAWNING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Increment yawns + alarm &amp; email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YAWN_DETECTED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Alarm active (0s delay)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D9770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ALERT ACTIVE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Background Gmail photo dispatch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EMERGENCY_NOTIFICATION_TRIGGERED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Thumbs-up held 5 frames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16A34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MONITORING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Stop alarm &amp; reset all timers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ALERT_DISMISSED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Face missing ≥ 10 frames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DC262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FACE DETECTED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Reset eye and yawn timers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SESSION_END (on quit)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4" name="Google Shape;264;p33"/>
          <p:cNvSpPr txBox="1"/>
          <p:nvPr/>
        </p:nvSpPr>
        <p:spPr>
          <a:xfrm>
            <a:off x="457200" y="342900"/>
            <a:ext cx="86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LOGGING &amp; RESULTS</a:t>
            </a:r>
            <a:endParaRPr sz="1100"/>
          </a:p>
        </p:txBody>
      </p:sp>
      <p:sp>
        <p:nvSpPr>
          <p:cNvPr id="265" name="Google Shape;265;p33"/>
          <p:cNvSpPr txBox="1"/>
          <p:nvPr/>
        </p:nvSpPr>
        <p:spPr>
          <a:xfrm>
            <a:off x="457200" y="514350"/>
            <a:ext cx="868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CSV Event Logging</a:t>
            </a:r>
            <a:endParaRPr sz="1100"/>
          </a:p>
        </p:txBody>
      </p:sp>
      <p:sp>
        <p:nvSpPr>
          <p:cNvPr id="266" name="Google Shape;266;p33"/>
          <p:cNvSpPr txBox="1"/>
          <p:nvPr/>
        </p:nvSpPr>
        <p:spPr>
          <a:xfrm>
            <a:off x="457200" y="4568428"/>
            <a:ext cx="8686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Dashboard</a:t>
            </a:r>
            <a:r>
              <a:rPr b="1" lang="en-GB" sz="10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b="0" i="0" lang="en-GB" sz="10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Displays live Session Timer, EAR, MAR on top-left and Alerts, Yawns, Dismissals on top-right.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>
            <a:off x="457200" y="1435894"/>
            <a:ext cx="3971925" cy="2593181"/>
          </a:xfrm>
          <a:prstGeom prst="roundRect">
            <a:avLst>
              <a:gd fmla="val 330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4714875" y="1435894"/>
            <a:ext cx="3971925" cy="2593181"/>
          </a:xfrm>
          <a:prstGeom prst="roundRect">
            <a:avLst>
              <a:gd fmla="val 330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4"/>
          <p:cNvSpPr txBox="1"/>
          <p:nvPr/>
        </p:nvSpPr>
        <p:spPr>
          <a:xfrm>
            <a:off x="457200" y="342900"/>
            <a:ext cx="86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CONCLUSION &amp; Q&amp;A</a:t>
            </a:r>
            <a:endParaRPr sz="1100"/>
          </a:p>
        </p:txBody>
      </p:sp>
      <p:sp>
        <p:nvSpPr>
          <p:cNvPr id="274" name="Google Shape;274;p34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 &amp; Future Work</a:t>
            </a:r>
            <a:endParaRPr sz="1100"/>
          </a:p>
        </p:txBody>
      </p:sp>
      <p:sp>
        <p:nvSpPr>
          <p:cNvPr id="275" name="Google Shape;275;p34"/>
          <p:cNvSpPr txBox="1"/>
          <p:nvPr/>
        </p:nvSpPr>
        <p:spPr>
          <a:xfrm>
            <a:off x="-285750" y="4593431"/>
            <a:ext cx="97155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59E0B"/>
                </a:solidFill>
                <a:latin typeface="DM Sans"/>
                <a:ea typeface="DM Sans"/>
                <a:cs typeface="DM Sans"/>
                <a:sym typeface="DM Sans"/>
              </a:rPr>
              <a:t>Thank you! Any questions?</a:t>
            </a:r>
            <a:endParaRPr sz="1100"/>
          </a:p>
        </p:txBody>
      </p:sp>
      <p:sp>
        <p:nvSpPr>
          <p:cNvPr id="276" name="Google Shape;276;p34"/>
          <p:cNvSpPr txBox="1"/>
          <p:nvPr/>
        </p:nvSpPr>
        <p:spPr>
          <a:xfrm>
            <a:off x="685800" y="1664494"/>
            <a:ext cx="461307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We Built</a:t>
            </a:r>
            <a:endParaRPr sz="1100"/>
          </a:p>
        </p:txBody>
      </p:sp>
      <p:sp>
        <p:nvSpPr>
          <p:cNvPr id="277" name="Google Shape;277;p34"/>
          <p:cNvSpPr txBox="1"/>
          <p:nvPr/>
        </p:nvSpPr>
        <p:spPr>
          <a:xfrm>
            <a:off x="4943475" y="1664494"/>
            <a:ext cx="4200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59E0B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Improvements</a:t>
            </a:r>
            <a:endParaRPr sz="1100"/>
          </a:p>
        </p:txBody>
      </p:sp>
      <p:sp>
        <p:nvSpPr>
          <p:cNvPr id="278" name="Google Shape;278;p34"/>
          <p:cNvSpPr txBox="1"/>
          <p:nvPr/>
        </p:nvSpPr>
        <p:spPr>
          <a:xfrm>
            <a:off x="685800" y="2028825"/>
            <a:ext cx="358616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Contactless Monitor:</a:t>
            </a:r>
            <a:r>
              <a:rPr b="0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Real-time tracking via standard webcam.</a:t>
            </a:r>
            <a:endParaRPr sz="1100"/>
          </a:p>
        </p:txBody>
      </p:sp>
      <p:sp>
        <p:nvSpPr>
          <p:cNvPr id="279" name="Google Shape;279;p34"/>
          <p:cNvSpPr txBox="1"/>
          <p:nvPr/>
        </p:nvSpPr>
        <p:spPr>
          <a:xfrm>
            <a:off x="685800" y="2500313"/>
            <a:ext cx="358616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Multi-Sign Detection:</a:t>
            </a:r>
            <a:r>
              <a:rPr b="0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Catches prolonged eye closure and yawning.</a:t>
            </a:r>
            <a:endParaRPr sz="1100"/>
          </a:p>
        </p:txBody>
      </p:sp>
      <p:sp>
        <p:nvSpPr>
          <p:cNvPr id="280" name="Google Shape;280;p34"/>
          <p:cNvSpPr txBox="1"/>
          <p:nvPr/>
        </p:nvSpPr>
        <p:spPr>
          <a:xfrm>
            <a:off x="685800" y="2971800"/>
            <a:ext cx="358616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Emergency Dispatch:</a:t>
            </a:r>
            <a:r>
              <a:rPr b="0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Threaded Gmail alerts with live driver photo.</a:t>
            </a:r>
            <a:endParaRPr sz="1100"/>
          </a:p>
        </p:txBody>
      </p:sp>
      <p:sp>
        <p:nvSpPr>
          <p:cNvPr id="281" name="Google Shape;281;p34"/>
          <p:cNvSpPr txBox="1"/>
          <p:nvPr/>
        </p:nvSpPr>
        <p:spPr>
          <a:xfrm>
            <a:off x="685800" y="3443288"/>
            <a:ext cx="358616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Hands-Free Control:</a:t>
            </a:r>
            <a:r>
              <a:rPr b="0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Thumbs-up dismissal and full CSV logging.</a:t>
            </a:r>
            <a:endParaRPr sz="1100"/>
          </a:p>
        </p:txBody>
      </p:sp>
      <p:sp>
        <p:nvSpPr>
          <p:cNvPr id="282" name="Google Shape;282;p34"/>
          <p:cNvSpPr txBox="1"/>
          <p:nvPr/>
        </p:nvSpPr>
        <p:spPr>
          <a:xfrm>
            <a:off x="4943475" y="2028825"/>
            <a:ext cx="358616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Custom Calibration:</a:t>
            </a:r>
            <a:r>
              <a:rPr b="0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Set baseline EAR per individual driver.</a:t>
            </a:r>
            <a:endParaRPr sz="1100"/>
          </a:p>
        </p:txBody>
      </p:sp>
      <p:sp>
        <p:nvSpPr>
          <p:cNvPr id="283" name="Google Shape;283;p34"/>
          <p:cNvSpPr txBox="1"/>
          <p:nvPr/>
        </p:nvSpPr>
        <p:spPr>
          <a:xfrm>
            <a:off x="4943475" y="2500313"/>
            <a:ext cx="358616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Night Vision:</a:t>
            </a:r>
            <a:r>
              <a:rPr b="0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Add infrared (IR) camera support for dark roads.</a:t>
            </a:r>
            <a:endParaRPr sz="1100"/>
          </a:p>
        </p:txBody>
      </p:sp>
      <p:sp>
        <p:nvSpPr>
          <p:cNvPr id="284" name="Google Shape;284;p34"/>
          <p:cNvSpPr txBox="1"/>
          <p:nvPr/>
        </p:nvSpPr>
        <p:spPr>
          <a:xfrm>
            <a:off x="4943475" y="2971800"/>
            <a:ext cx="358616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Nodding Alerts:</a:t>
            </a:r>
            <a:r>
              <a:rPr b="0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Trigger alarms from pitch/yaw head drops.</a:t>
            </a:r>
            <a:endParaRPr sz="1100"/>
          </a:p>
        </p:txBody>
      </p:sp>
      <p:sp>
        <p:nvSpPr>
          <p:cNvPr id="285" name="Google Shape;285;p34"/>
          <p:cNvSpPr txBox="1"/>
          <p:nvPr/>
        </p:nvSpPr>
        <p:spPr>
          <a:xfrm>
            <a:off x="4943475" y="3443288"/>
            <a:ext cx="358616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Edge Deployment:</a:t>
            </a:r>
            <a:r>
              <a:rPr b="0" i="0" lang="en-GB" sz="11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Run standalone on Raspberry Pi in vehicles.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